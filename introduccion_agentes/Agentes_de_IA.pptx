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2194560"/>
            <a:ext cx="66751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0" y="237744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AGENTES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29184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Introduccion a LangChain y LangGraph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206240"/>
            <a:ext cx="66751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448056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Cognodata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309360"/>
            <a:ext cx="10698480" cy="36576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9E1B31"/>
                </a:solidFill>
                <a:latin typeface="Calibri"/>
              </a:defRPr>
            </a:pPr>
            <a:r>
              <a:t>Que es un Agente de 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Un </a:t>
            </a:r>
            <a:r>
              <a:rPr dirty="0" err="1"/>
              <a:t>Agente</a:t>
            </a:r>
            <a:r>
              <a:rPr dirty="0"/>
              <a:t> de IA es un </a:t>
            </a:r>
            <a:r>
              <a:rPr dirty="0" err="1"/>
              <a:t>sistema</a:t>
            </a:r>
            <a:r>
              <a:rPr dirty="0"/>
              <a:t> de software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tomar</a:t>
            </a:r>
            <a:r>
              <a:rPr dirty="0"/>
              <a:t> </a:t>
            </a:r>
            <a:r>
              <a:rPr dirty="0" err="1"/>
              <a:t>decisiones</a:t>
            </a: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y </a:t>
            </a:r>
            <a:r>
              <a:rPr dirty="0" err="1"/>
              <a:t>realizar</a:t>
            </a:r>
            <a:r>
              <a:rPr dirty="0"/>
              <a:t> </a:t>
            </a:r>
            <a:r>
              <a:rPr dirty="0" err="1"/>
              <a:t>acciones</a:t>
            </a:r>
            <a:r>
              <a:rPr dirty="0"/>
              <a:t> de forma </a:t>
            </a:r>
            <a:r>
              <a:rPr dirty="0" err="1"/>
              <a:t>autonoma</a:t>
            </a:r>
            <a:r>
              <a:rPr dirty="0"/>
              <a:t> para </a:t>
            </a:r>
            <a:r>
              <a:rPr dirty="0" err="1"/>
              <a:t>cumplir</a:t>
            </a:r>
            <a:r>
              <a:rPr dirty="0"/>
              <a:t> un </a:t>
            </a:r>
            <a:r>
              <a:rPr dirty="0" err="1"/>
              <a:t>objetivo</a:t>
            </a:r>
            <a:r>
              <a:rPr dirty="0"/>
              <a:t>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A </a:t>
            </a:r>
            <a:r>
              <a:rPr dirty="0" err="1"/>
              <a:t>diferencia</a:t>
            </a:r>
            <a:r>
              <a:rPr dirty="0"/>
              <a:t> de un </a:t>
            </a:r>
            <a:r>
              <a:rPr dirty="0" err="1"/>
              <a:t>programa</a:t>
            </a:r>
            <a:r>
              <a:rPr dirty="0"/>
              <a:t> </a:t>
            </a:r>
            <a:r>
              <a:rPr dirty="0" err="1"/>
              <a:t>tradicional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sigue</a:t>
            </a:r>
            <a:r>
              <a:rPr dirty="0"/>
              <a:t> </a:t>
            </a:r>
            <a:r>
              <a:rPr dirty="0" err="1"/>
              <a:t>instrucciones</a:t>
            </a:r>
            <a:r>
              <a:rPr dirty="0"/>
              <a:t> </a:t>
            </a:r>
            <a:r>
              <a:rPr dirty="0" err="1"/>
              <a:t>fijas</a:t>
            </a:r>
            <a:r>
              <a:rPr dirty="0"/>
              <a:t>,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un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: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Razonar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pasos </a:t>
            </a:r>
            <a:r>
              <a:rPr dirty="0" err="1"/>
              <a:t>tomar</a:t>
            </a:r>
            <a:endParaRPr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Usar </a:t>
            </a:r>
            <a:r>
              <a:rPr dirty="0" err="1"/>
              <a:t>herramientas</a:t>
            </a:r>
            <a:r>
              <a:rPr dirty="0"/>
              <a:t> </a:t>
            </a:r>
            <a:r>
              <a:rPr dirty="0" err="1"/>
              <a:t>externas</a:t>
            </a:r>
            <a:r>
              <a:rPr dirty="0"/>
              <a:t> (</a:t>
            </a:r>
            <a:r>
              <a:rPr dirty="0" err="1"/>
              <a:t>buscar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internet, </a:t>
            </a:r>
            <a:r>
              <a:rPr dirty="0" err="1"/>
              <a:t>consultar</a:t>
            </a:r>
            <a:r>
              <a:rPr dirty="0"/>
              <a:t> bases de </a:t>
            </a:r>
            <a:r>
              <a:rPr dirty="0" err="1"/>
              <a:t>datos</a:t>
            </a:r>
            <a:r>
              <a:rPr dirty="0"/>
              <a:t>...)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Adaptarse</a:t>
            </a:r>
            <a:r>
              <a:rPr dirty="0"/>
              <a:t> </a:t>
            </a:r>
            <a:r>
              <a:rPr dirty="0" err="1"/>
              <a:t>segun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obtiene</a:t>
            </a:r>
            <a:endParaRPr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Recordar</a:t>
            </a:r>
            <a:r>
              <a:rPr dirty="0"/>
              <a:t> </a:t>
            </a:r>
            <a:r>
              <a:rPr dirty="0" err="1"/>
              <a:t>informacion</a:t>
            </a:r>
            <a:r>
              <a:rPr dirty="0"/>
              <a:t> de </a:t>
            </a:r>
            <a:r>
              <a:rPr dirty="0" err="1"/>
              <a:t>interacciones</a:t>
            </a:r>
            <a:r>
              <a:rPr dirty="0"/>
              <a:t> previas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309360"/>
            <a:ext cx="10698480" cy="36576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9E1B31"/>
                </a:solidFill>
                <a:latin typeface="Calibri"/>
              </a:defRPr>
            </a:pPr>
            <a:r>
              <a:t>Automatizacion de IA vs Agente de 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38404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 b="1">
                <a:solidFill>
                  <a:srgbClr val="9E1B31"/>
                </a:solidFill>
                <a:latin typeface="Calibri"/>
              </a:defRPr>
            </a:pPr>
            <a:r>
              <a:t>Automatizacion de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Sigue reglas predefinidas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Flujo de trabajo fijo (si X, entonces Y)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No toma decisiones por si misma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Ejemplo: un chatbot con respuestas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programadas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3840480"/>
          </a:xfrm>
          <a:prstGeom prst="round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Agente de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Razona y decide que hacer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Flujo dinamico y adaptable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Usa herramientas segun necesite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Ejemplo: un asistente que investiga,</a:t>
            </a:r>
          </a:p>
          <a:p>
            <a:pPr algn="l">
              <a:spcAft>
                <a:spcPts val="10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analiza y responde de forma autonoma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309360"/>
            <a:ext cx="10698480" cy="36576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9E1B31"/>
                </a:solidFill>
                <a:latin typeface="Calibri"/>
              </a:defRPr>
            </a:pPr>
            <a:r>
              <a:t>Que es LangChain?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LangChain</a:t>
            </a:r>
            <a:r>
              <a:rPr dirty="0"/>
              <a:t> es un framework de </a:t>
            </a:r>
            <a:r>
              <a:rPr dirty="0" err="1"/>
              <a:t>codigo</a:t>
            </a:r>
            <a:r>
              <a:rPr dirty="0"/>
              <a:t> </a:t>
            </a:r>
            <a:r>
              <a:rPr dirty="0" err="1"/>
              <a:t>abierto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facilita</a:t>
            </a:r>
            <a:r>
              <a:rPr lang="es-ES" dirty="0"/>
              <a:t> </a:t>
            </a:r>
            <a:r>
              <a:rPr dirty="0"/>
              <a:t>la </a:t>
            </a:r>
            <a:r>
              <a:rPr dirty="0" err="1"/>
              <a:t>creacion</a:t>
            </a:r>
            <a:r>
              <a:rPr dirty="0"/>
              <a:t> de </a:t>
            </a: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basadas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de </a:t>
            </a:r>
            <a:r>
              <a:rPr dirty="0" err="1"/>
              <a:t>lenguaje</a:t>
            </a:r>
            <a:r>
              <a:rPr dirty="0"/>
              <a:t> (LLMs).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Proporciona</a:t>
            </a:r>
            <a:r>
              <a:rPr dirty="0"/>
              <a:t> </a:t>
            </a: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modulares</a:t>
            </a:r>
            <a:r>
              <a:rPr dirty="0"/>
              <a:t> para:</a:t>
            </a:r>
          </a:p>
          <a:p>
            <a:pPr marL="914400" lvl="1" indent="-457200">
              <a:spcAft>
                <a:spcPts val="1000"/>
              </a:spcAft>
              <a:buFont typeface="+mj-lt"/>
              <a:buAutoNum type="arabicPeriod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Conectar</a:t>
            </a:r>
            <a:r>
              <a:rPr dirty="0"/>
              <a:t> LLMs con </a:t>
            </a:r>
            <a:r>
              <a:rPr dirty="0" err="1"/>
              <a:t>fuentes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externas</a:t>
            </a:r>
            <a:endParaRPr dirty="0"/>
          </a:p>
          <a:p>
            <a:pPr marL="914400" lvl="1" indent="-457200">
              <a:spcAft>
                <a:spcPts val="1000"/>
              </a:spcAft>
              <a:buFont typeface="+mj-lt"/>
              <a:buAutoNum type="arabicPeriod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Crear </a:t>
            </a:r>
            <a:r>
              <a:rPr dirty="0" err="1"/>
              <a:t>cadenas</a:t>
            </a:r>
            <a:r>
              <a:rPr dirty="0"/>
              <a:t> de </a:t>
            </a:r>
            <a:r>
              <a:rPr dirty="0" err="1"/>
              <a:t>procesamiento</a:t>
            </a:r>
            <a:r>
              <a:rPr dirty="0"/>
              <a:t> (chains)</a:t>
            </a:r>
          </a:p>
          <a:p>
            <a:pPr marL="914400" lvl="1" indent="-457200">
              <a:spcAft>
                <a:spcPts val="1000"/>
              </a:spcAft>
              <a:buFont typeface="+mj-lt"/>
              <a:buAutoNum type="arabicPeriod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Gestionar</a:t>
            </a:r>
            <a:r>
              <a:rPr dirty="0"/>
              <a:t> memoria y </a:t>
            </a:r>
            <a:r>
              <a:rPr dirty="0" err="1"/>
              <a:t>contexto</a:t>
            </a:r>
            <a:r>
              <a:rPr dirty="0"/>
              <a:t> de </a:t>
            </a:r>
            <a:r>
              <a:rPr dirty="0" err="1"/>
              <a:t>conversacion</a:t>
            </a:r>
            <a:endParaRPr dirty="0"/>
          </a:p>
          <a:p>
            <a:pPr marL="914400" lvl="1" indent="-457200">
              <a:spcAft>
                <a:spcPts val="1000"/>
              </a:spcAft>
              <a:buFont typeface="+mj-lt"/>
              <a:buAutoNum type="arabicPeriod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herramientas</a:t>
            </a:r>
            <a:r>
              <a:rPr dirty="0"/>
              <a:t> y APIs </a:t>
            </a:r>
            <a:r>
              <a:rPr dirty="0" err="1"/>
              <a:t>externas</a:t>
            </a: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Piensa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LangChain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"</a:t>
            </a:r>
            <a:r>
              <a:rPr dirty="0" err="1"/>
              <a:t>pegamento</a:t>
            </a:r>
            <a:r>
              <a:rPr dirty="0"/>
              <a:t>"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conecta</a:t>
            </a: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todas</a:t>
            </a:r>
            <a:r>
              <a:rPr dirty="0"/>
              <a:t> las </a:t>
            </a:r>
            <a:r>
              <a:rPr dirty="0" err="1"/>
              <a:t>piezas</a:t>
            </a:r>
            <a:r>
              <a:rPr dirty="0"/>
              <a:t> </a:t>
            </a:r>
            <a:r>
              <a:rPr dirty="0" err="1"/>
              <a:t>necesarias</a:t>
            </a:r>
            <a:r>
              <a:rPr dirty="0"/>
              <a:t> para </a:t>
            </a:r>
            <a:r>
              <a:rPr dirty="0" err="1"/>
              <a:t>construir</a:t>
            </a:r>
            <a:r>
              <a:rPr dirty="0"/>
              <a:t> un </a:t>
            </a:r>
            <a:r>
              <a:rPr dirty="0" err="1"/>
              <a:t>agente</a:t>
            </a:r>
            <a:r>
              <a:rPr dirty="0"/>
              <a:t> de 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309360"/>
            <a:ext cx="10698480" cy="36576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9E1B31"/>
                </a:solidFill>
                <a:latin typeface="Calibri"/>
              </a:defRPr>
            </a:pPr>
            <a:r>
              <a:t>Los 3 Pilares de un Agente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2011680"/>
            <a:ext cx="3017520" cy="32004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3767" y="2377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latin typeface="Calibri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767" y="3657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E1B31"/>
                </a:solidFill>
                <a:latin typeface="Calibri"/>
              </a:defRPr>
            </a:pPr>
            <a:r>
              <a:t>Cerebro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087" y="438912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87087" y="2011680"/>
            <a:ext cx="3017520" cy="32004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87087" y="2377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latin typeface="Calibri"/>
              </a:defRPr>
            </a:pPr>
            <a:r>
              <a:t>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087" y="3657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E1B31"/>
                </a:solidFill>
                <a:latin typeface="Calibri"/>
              </a:defRPr>
            </a:pPr>
            <a:r>
              <a:t>Memoria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1407" y="438912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Calibri"/>
              </a:defRPr>
            </a:pPr>
            <a:r>
              <a:t>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0407" y="2011680"/>
            <a:ext cx="3017520" cy="32004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0407" y="2377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latin typeface="Calibri"/>
              </a:defRPr>
            </a:pPr>
            <a: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407" y="3657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E1B31"/>
                </a:solidFill>
                <a:latin typeface="Calibri"/>
              </a:defRPr>
            </a:pPr>
            <a:r>
              <a:t>Herramientas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4727" y="438912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Calibri"/>
              </a:defRPr>
            </a:pPr>
            <a:r>
              <a:t>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309360"/>
            <a:ext cx="10698480" cy="36576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9E1B31"/>
                </a:solidFill>
                <a:latin typeface="Calibri"/>
              </a:defRPr>
            </a:pPr>
            <a:r>
              <a:t>Pilar 1: Cerebro (LLM)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El LLM (Large Language Model) es </a:t>
            </a:r>
            <a:r>
              <a:rPr dirty="0" err="1"/>
              <a:t>el</a:t>
            </a:r>
            <a:r>
              <a:rPr dirty="0"/>
              <a:t> "</a:t>
            </a:r>
            <a:r>
              <a:rPr dirty="0" err="1"/>
              <a:t>cerebro</a:t>
            </a:r>
            <a:r>
              <a:rPr dirty="0"/>
              <a:t>" del </a:t>
            </a:r>
            <a:r>
              <a:rPr dirty="0" err="1"/>
              <a:t>agente</a:t>
            </a:r>
            <a:r>
              <a:rPr dirty="0"/>
              <a:t>.</a:t>
            </a:r>
            <a:r>
              <a:rPr lang="es-ES" dirty="0"/>
              <a:t> </a:t>
            </a:r>
            <a:r>
              <a:rPr dirty="0"/>
              <a:t>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inteligencia</a:t>
            </a:r>
            <a:r>
              <a:rPr dirty="0"/>
              <a:t> artificial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razona</a:t>
            </a:r>
            <a:r>
              <a:rPr dirty="0"/>
              <a:t> y genera </a:t>
            </a:r>
            <a:r>
              <a:rPr dirty="0" err="1"/>
              <a:t>respuestas</a:t>
            </a:r>
            <a:r>
              <a:rPr dirty="0"/>
              <a:t>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Funciones</a:t>
            </a:r>
            <a:r>
              <a:rPr dirty="0"/>
              <a:t> </a:t>
            </a:r>
            <a:r>
              <a:rPr dirty="0" err="1"/>
              <a:t>principales</a:t>
            </a:r>
            <a:r>
              <a:rPr dirty="0"/>
              <a:t>: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Comprender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lenguaje</a:t>
            </a:r>
            <a:r>
              <a:rPr dirty="0"/>
              <a:t> natural del </a:t>
            </a:r>
            <a:r>
              <a:rPr dirty="0" err="1"/>
              <a:t>usuario</a:t>
            </a:r>
            <a:endParaRPr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Razonar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acciones</a:t>
            </a:r>
            <a:r>
              <a:rPr dirty="0"/>
              <a:t> </a:t>
            </a:r>
            <a:r>
              <a:rPr dirty="0" err="1"/>
              <a:t>tomar</a:t>
            </a:r>
            <a:endParaRPr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Decidir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y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herramientas</a:t>
            </a:r>
            <a:r>
              <a:rPr dirty="0"/>
              <a:t> usar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Generar</a:t>
            </a:r>
            <a:r>
              <a:rPr dirty="0"/>
              <a:t> </a:t>
            </a:r>
            <a:r>
              <a:rPr dirty="0" err="1"/>
              <a:t>respuestas</a:t>
            </a:r>
            <a:r>
              <a:rPr dirty="0"/>
              <a:t> </a:t>
            </a:r>
            <a:r>
              <a:rPr dirty="0" err="1"/>
              <a:t>coherentes</a:t>
            </a:r>
            <a:r>
              <a:rPr dirty="0"/>
              <a:t> y </a:t>
            </a:r>
            <a:r>
              <a:rPr dirty="0" err="1"/>
              <a:t>utiles</a:t>
            </a: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Ejemplos</a:t>
            </a:r>
            <a:r>
              <a:rPr dirty="0"/>
              <a:t> de LLMs: GPT-4, Claude, Gemini, Llama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309360"/>
            <a:ext cx="10698480" cy="36576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9E1B31"/>
                </a:solidFill>
                <a:latin typeface="Calibri"/>
              </a:defRPr>
            </a:pPr>
            <a:r>
              <a:t>Pilar 2: Memoria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La memoria </a:t>
            </a:r>
            <a:r>
              <a:rPr dirty="0" err="1"/>
              <a:t>permite</a:t>
            </a:r>
            <a:r>
              <a:rPr dirty="0"/>
              <a:t> al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recordar</a:t>
            </a:r>
            <a:r>
              <a:rPr dirty="0"/>
              <a:t> </a:t>
            </a:r>
            <a:r>
              <a:rPr dirty="0" err="1"/>
              <a:t>informacion</a:t>
            </a: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de </a:t>
            </a:r>
            <a:r>
              <a:rPr dirty="0" err="1"/>
              <a:t>interacciones</a:t>
            </a:r>
            <a:r>
              <a:rPr dirty="0"/>
              <a:t> </a:t>
            </a:r>
            <a:r>
              <a:rPr dirty="0" err="1"/>
              <a:t>anteriores</a:t>
            </a:r>
            <a:r>
              <a:rPr dirty="0"/>
              <a:t> y del </a:t>
            </a:r>
            <a:r>
              <a:rPr dirty="0" err="1"/>
              <a:t>contexto</a:t>
            </a:r>
            <a:r>
              <a:rPr dirty="0"/>
              <a:t> actual.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Tipos</a:t>
            </a:r>
            <a:r>
              <a:rPr dirty="0"/>
              <a:t> de memoria: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Memoria a corto </a:t>
            </a:r>
            <a:r>
              <a:rPr dirty="0" err="1"/>
              <a:t>plazo</a:t>
            </a:r>
            <a:r>
              <a:rPr dirty="0"/>
              <a:t>: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sucede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conversacion</a:t>
            </a:r>
            <a:r>
              <a:rPr dirty="0"/>
              <a:t> actual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Memoria a largo </a:t>
            </a:r>
            <a:r>
              <a:rPr dirty="0" err="1"/>
              <a:t>plazo</a:t>
            </a:r>
            <a:r>
              <a:rPr dirty="0"/>
              <a:t>: </a:t>
            </a:r>
            <a:r>
              <a:rPr dirty="0" err="1"/>
              <a:t>informacion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persiste</a:t>
            </a:r>
            <a:r>
              <a:rPr dirty="0"/>
              <a:t> entre </a:t>
            </a:r>
            <a:r>
              <a:rPr dirty="0" err="1"/>
              <a:t>sesiones</a:t>
            </a: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Sin memoria,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agente</a:t>
            </a:r>
            <a:r>
              <a:rPr dirty="0"/>
              <a:t> "</a:t>
            </a:r>
            <a:r>
              <a:rPr dirty="0" err="1"/>
              <a:t>olvidaria</a:t>
            </a:r>
            <a:r>
              <a:rPr dirty="0"/>
              <a:t>"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despues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mensaje</a:t>
            </a:r>
            <a:r>
              <a:rPr dirty="0"/>
              <a:t>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La memoria es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experiencia</a:t>
            </a:r>
            <a:r>
              <a:rPr dirty="0"/>
              <a:t> sea </a:t>
            </a:r>
            <a:r>
              <a:rPr dirty="0" err="1"/>
              <a:t>coherente</a:t>
            </a: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y </a:t>
            </a:r>
            <a:r>
              <a:rPr dirty="0" err="1"/>
              <a:t>personalizada</a:t>
            </a:r>
            <a:r>
              <a:rPr dirty="0"/>
              <a:t> a lo largo del </a:t>
            </a:r>
            <a:r>
              <a:rPr dirty="0" err="1"/>
              <a:t>tiempo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309360"/>
            <a:ext cx="10698480" cy="36576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9E1B31"/>
                </a:solidFill>
                <a:latin typeface="Calibri"/>
              </a:defRPr>
            </a:pPr>
            <a:r>
              <a:t>Pilar 3: Herramientas (Tools)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Las </a:t>
            </a:r>
            <a:r>
              <a:rPr dirty="0" err="1"/>
              <a:t>herramientas</a:t>
            </a:r>
            <a:r>
              <a:rPr dirty="0"/>
              <a:t> son las </a:t>
            </a:r>
            <a:r>
              <a:rPr dirty="0" err="1"/>
              <a:t>capacidades</a:t>
            </a:r>
            <a:r>
              <a:rPr dirty="0"/>
              <a:t> </a:t>
            </a:r>
            <a:r>
              <a:rPr dirty="0" err="1"/>
              <a:t>externas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agente</a:t>
            </a:r>
            <a:r>
              <a:rPr lang="es-ES"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utilizar</a:t>
            </a:r>
            <a:r>
              <a:rPr dirty="0"/>
              <a:t> para </a:t>
            </a:r>
            <a:r>
              <a:rPr dirty="0" err="1"/>
              <a:t>interactuar</a:t>
            </a:r>
            <a:r>
              <a:rPr dirty="0"/>
              <a:t> con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mundo</a:t>
            </a:r>
            <a:r>
              <a:rPr dirty="0"/>
              <a:t> real.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Ejemplos de </a:t>
            </a:r>
            <a:r>
              <a:rPr dirty="0" err="1"/>
              <a:t>herramientas</a:t>
            </a:r>
            <a:r>
              <a:rPr dirty="0"/>
              <a:t>: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Buscar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internet o </a:t>
            </a:r>
            <a:r>
              <a:rPr dirty="0" err="1"/>
              <a:t>en</a:t>
            </a:r>
            <a:r>
              <a:rPr dirty="0"/>
              <a:t> bases de </a:t>
            </a:r>
            <a:r>
              <a:rPr dirty="0" err="1"/>
              <a:t>datos</a:t>
            </a:r>
            <a:endParaRPr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  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codigo</a:t>
            </a:r>
            <a:r>
              <a:rPr dirty="0"/>
              <a:t> o </a:t>
            </a:r>
            <a:r>
              <a:rPr dirty="0" err="1"/>
              <a:t>consultas</a:t>
            </a:r>
            <a:r>
              <a:rPr dirty="0"/>
              <a:t> SQL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   </a:t>
            </a:r>
            <a:r>
              <a:rPr dirty="0" err="1"/>
              <a:t>Conectarse</a:t>
            </a:r>
            <a:r>
              <a:rPr dirty="0"/>
              <a:t> a APIs </a:t>
            </a:r>
            <a:r>
              <a:rPr dirty="0" err="1"/>
              <a:t>externas</a:t>
            </a:r>
            <a:r>
              <a:rPr dirty="0"/>
              <a:t> (CRM, ERP, etc.)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El </a:t>
            </a:r>
            <a:r>
              <a:rPr dirty="0" err="1"/>
              <a:t>agente</a:t>
            </a:r>
            <a:r>
              <a:rPr dirty="0"/>
              <a:t> decide </a:t>
            </a:r>
            <a:r>
              <a:rPr dirty="0" err="1"/>
              <a:t>autonomamente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 usar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y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usarla</a:t>
            </a:r>
            <a:r>
              <a:rPr dirty="0"/>
              <a:t> </a:t>
            </a:r>
            <a:r>
              <a:rPr dirty="0" err="1"/>
              <a:t>segun</a:t>
            </a:r>
            <a:r>
              <a:rPr dirty="0"/>
              <a:t> la </a:t>
            </a:r>
            <a:r>
              <a:rPr dirty="0" err="1"/>
              <a:t>tarea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resolver.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309360"/>
            <a:ext cx="10698480" cy="36576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9E1B31"/>
                </a:solidFill>
                <a:latin typeface="Calibri"/>
              </a:defRPr>
            </a:pPr>
            <a:r>
              <a:t>Middleware en LangChain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El middleware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capa</a:t>
            </a:r>
            <a:r>
              <a:rPr dirty="0"/>
              <a:t> intermedia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intercepta</a:t>
            </a:r>
            <a:r>
              <a:rPr dirty="0"/>
              <a:t> y </a:t>
            </a:r>
            <a:r>
              <a:rPr dirty="0" err="1"/>
              <a:t>transforma</a:t>
            </a:r>
            <a:r>
              <a:rPr lang="es-ES"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antes de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lleguen</a:t>
            </a:r>
            <a:r>
              <a:rPr dirty="0"/>
              <a:t> al LLM o </a:t>
            </a:r>
            <a:r>
              <a:rPr dirty="0" err="1"/>
              <a:t>despues</a:t>
            </a:r>
            <a:r>
              <a:rPr dirty="0"/>
              <a:t> de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respuesta</a:t>
            </a:r>
            <a:r>
              <a:rPr dirty="0"/>
              <a:t>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Funciona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un "</a:t>
            </a:r>
            <a:r>
              <a:rPr dirty="0" err="1"/>
              <a:t>filtro</a:t>
            </a:r>
            <a:r>
              <a:rPr dirty="0"/>
              <a:t>"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594" y="3657600"/>
            <a:ext cx="1584952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 err="1"/>
              <a:t>Usuario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3012271" y="3657600"/>
            <a:ext cx="1584952" cy="822960"/>
          </a:xfrm>
          <a:prstGeom prst="round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Middleware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23121" y="3657600"/>
            <a:ext cx="1584952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9977" y="3657600"/>
            <a:ext cx="1584952" cy="822960"/>
          </a:xfrm>
          <a:prstGeom prst="round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Middleware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56833" y="3657600"/>
            <a:ext cx="1584952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Respuesta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1884" y="3886200"/>
            <a:ext cx="365760" cy="365760"/>
          </a:xfrm>
          <a:prstGeom prst="rightArrow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4758106" y="3886200"/>
            <a:ext cx="365760" cy="365760"/>
          </a:xfrm>
          <a:prstGeom prst="rightArrow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7107328" y="3886200"/>
            <a:ext cx="365760" cy="365760"/>
          </a:xfrm>
          <a:prstGeom prst="rightArrow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9391818" y="3900441"/>
            <a:ext cx="365760" cy="365760"/>
          </a:xfrm>
          <a:prstGeom prst="rightArrow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 algn="l">
              <a:spcAft>
                <a:spcPts val="10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Casos de uso: logging, validacion, transformacion de prompts,</a:t>
            </a:r>
          </a:p>
          <a:p>
            <a:pPr algn="l">
              <a:spcAft>
                <a:spcPts val="10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control de acceso, cache de respuestas.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309360"/>
            <a:ext cx="10698480" cy="36576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9E1B31"/>
                </a:solidFill>
                <a:latin typeface="Calibri"/>
              </a:defRPr>
            </a:pPr>
            <a:r>
              <a:t>Middleware: Dynamic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Dynamic Prompt es un middleware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modifica</a:t>
            </a:r>
            <a:r>
              <a:rPr lang="es-ES" dirty="0"/>
              <a:t> </a:t>
            </a:r>
            <a:r>
              <a:rPr dirty="0" err="1"/>
              <a:t>el</a:t>
            </a:r>
            <a:r>
              <a:rPr dirty="0"/>
              <a:t> prompt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recibe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LLM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real.</a:t>
            </a:r>
            <a:endParaRPr lang="es-ES"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Como </a:t>
            </a:r>
            <a:r>
              <a:rPr dirty="0" err="1"/>
              <a:t>funciona</a:t>
            </a:r>
            <a:r>
              <a:rPr dirty="0"/>
              <a:t>: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Recibe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mensaje</a:t>
            </a:r>
            <a:r>
              <a:rPr dirty="0"/>
              <a:t> del </a:t>
            </a:r>
            <a:r>
              <a:rPr dirty="0" err="1"/>
              <a:t>usuario</a:t>
            </a:r>
            <a:endParaRPr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Enriquece </a:t>
            </a:r>
            <a:r>
              <a:rPr dirty="0" err="1"/>
              <a:t>el</a:t>
            </a:r>
            <a:r>
              <a:rPr dirty="0"/>
              <a:t> prompt con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adicional</a:t>
            </a:r>
            <a:endParaRPr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   </a:t>
            </a:r>
            <a:r>
              <a:rPr dirty="0"/>
              <a:t>Envia </a:t>
            </a:r>
            <a:r>
              <a:rPr dirty="0" err="1"/>
              <a:t>el</a:t>
            </a:r>
            <a:r>
              <a:rPr dirty="0"/>
              <a:t> prompt </a:t>
            </a:r>
            <a:r>
              <a:rPr dirty="0" err="1"/>
              <a:t>mejorado</a:t>
            </a:r>
            <a:r>
              <a:rPr dirty="0"/>
              <a:t> al LLM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Beneficios</a:t>
            </a:r>
            <a:r>
              <a:rPr dirty="0"/>
              <a:t>: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Respuestas</a:t>
            </a:r>
            <a:r>
              <a:rPr dirty="0"/>
              <a:t> mas </a:t>
            </a:r>
            <a:r>
              <a:rPr dirty="0" err="1"/>
              <a:t>precisas</a:t>
            </a:r>
            <a:r>
              <a:rPr dirty="0"/>
              <a:t> y </a:t>
            </a:r>
            <a:r>
              <a:rPr dirty="0" err="1"/>
              <a:t>personalizadas</a:t>
            </a:r>
            <a:endParaRPr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adaptar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comportamiento</a:t>
            </a:r>
            <a:r>
              <a:rPr dirty="0"/>
              <a:t> del </a:t>
            </a:r>
            <a:r>
              <a:rPr dirty="0" err="1"/>
              <a:t>agente</a:t>
            </a:r>
            <a:r>
              <a:rPr lang="es-ES" dirty="0"/>
              <a:t> </a:t>
            </a:r>
            <a:r>
              <a:rPr dirty="0"/>
              <a:t>sin </a:t>
            </a:r>
            <a:r>
              <a:rPr dirty="0" err="1"/>
              <a:t>modificar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codigo</a:t>
            </a:r>
            <a:r>
              <a:rPr dirty="0"/>
              <a:t> 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309360"/>
            <a:ext cx="10698480" cy="36576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9E1B31"/>
                </a:solidFill>
                <a:latin typeface="Calibri"/>
              </a:defRPr>
            </a:pPr>
            <a:r>
              <a:t>Introduccion a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LangGraph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extension de </a:t>
            </a:r>
            <a:r>
              <a:rPr dirty="0" err="1"/>
              <a:t>LangChain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permite</a:t>
            </a:r>
            <a:r>
              <a:rPr lang="es-ES" dirty="0"/>
              <a:t>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grafos</a:t>
            </a:r>
            <a:r>
              <a:rPr dirty="0"/>
              <a:t>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Diferencia</a:t>
            </a:r>
            <a:r>
              <a:rPr dirty="0"/>
              <a:t> clave con </a:t>
            </a:r>
            <a:r>
              <a:rPr dirty="0" err="1"/>
              <a:t>LangChain</a:t>
            </a:r>
            <a:r>
              <a:rPr dirty="0"/>
              <a:t>:</a:t>
            </a:r>
          </a:p>
          <a:p>
            <a:pPr marL="914400" lvl="1" indent="-457200">
              <a:spcAft>
                <a:spcPts val="1000"/>
              </a:spcAft>
              <a:buFont typeface="+mj-lt"/>
              <a:buAutoNum type="arabicPeriod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LangChain</a:t>
            </a:r>
            <a:r>
              <a:rPr dirty="0"/>
              <a:t>: </a:t>
            </a:r>
            <a:r>
              <a:rPr dirty="0" err="1"/>
              <a:t>cadenas</a:t>
            </a:r>
            <a:r>
              <a:rPr dirty="0"/>
              <a:t> </a:t>
            </a:r>
            <a:r>
              <a:rPr dirty="0" err="1"/>
              <a:t>lineales</a:t>
            </a:r>
            <a:r>
              <a:rPr dirty="0"/>
              <a:t> (paso 1 -&gt; paso 2 -&gt; paso 3)</a:t>
            </a:r>
          </a:p>
          <a:p>
            <a:pPr marL="914400" lvl="1" indent="-457200">
              <a:spcAft>
                <a:spcPts val="1000"/>
              </a:spcAft>
              <a:buFont typeface="+mj-lt"/>
              <a:buAutoNum type="arabicPeriod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LangGraph</a:t>
            </a:r>
            <a:r>
              <a:rPr dirty="0"/>
              <a:t>: </a:t>
            </a:r>
            <a:r>
              <a:rPr dirty="0" err="1"/>
              <a:t>grafos</a:t>
            </a:r>
            <a:r>
              <a:rPr dirty="0"/>
              <a:t> con </a:t>
            </a:r>
            <a:r>
              <a:rPr dirty="0" err="1"/>
              <a:t>ciclos</a:t>
            </a:r>
            <a:r>
              <a:rPr dirty="0"/>
              <a:t>, </a:t>
            </a:r>
            <a:r>
              <a:rPr dirty="0" err="1"/>
              <a:t>condiciones</a:t>
            </a:r>
            <a:r>
              <a:rPr dirty="0"/>
              <a:t> y </a:t>
            </a:r>
            <a:r>
              <a:rPr dirty="0" err="1"/>
              <a:t>ramas</a:t>
            </a:r>
            <a:r>
              <a:rPr dirty="0"/>
              <a:t> </a:t>
            </a:r>
            <a:r>
              <a:rPr dirty="0" err="1"/>
              <a:t>paralelas</a:t>
            </a:r>
            <a:endParaRPr dirty="0"/>
          </a:p>
          <a:p>
            <a:pPr marL="914400" lvl="1" indent="-457200">
              <a:spcAft>
                <a:spcPts val="1000"/>
              </a:spcAft>
              <a:buFont typeface="+mj-lt"/>
              <a:buAutoNum type="arabicPeriod"/>
              <a:defRPr sz="20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Ventajas</a:t>
            </a:r>
            <a:r>
              <a:rPr dirty="0"/>
              <a:t>: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Flujos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complejos</a:t>
            </a:r>
            <a:r>
              <a:rPr dirty="0"/>
              <a:t> con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condicionales</a:t>
            </a:r>
            <a:r>
              <a:rPr lang="es-ES" dirty="0"/>
              <a:t> (Ideal para </a:t>
            </a:r>
            <a:r>
              <a:rPr lang="es-ES" dirty="0" err="1"/>
              <a:t>multiagentes</a:t>
            </a:r>
            <a:r>
              <a:rPr lang="es-ES" dirty="0"/>
              <a:t>)</a:t>
            </a:r>
            <a:endParaRPr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Capacidad</a:t>
            </a:r>
            <a:r>
              <a:rPr dirty="0"/>
              <a:t> de "</a:t>
            </a:r>
            <a:r>
              <a:rPr dirty="0" err="1"/>
              <a:t>volver</a:t>
            </a:r>
            <a:r>
              <a:rPr dirty="0"/>
              <a:t> </a:t>
            </a:r>
            <a:r>
              <a:rPr dirty="0" err="1"/>
              <a:t>atras</a:t>
            </a:r>
            <a:r>
              <a:rPr dirty="0"/>
              <a:t>" y re-</a:t>
            </a:r>
            <a:r>
              <a:rPr dirty="0" err="1"/>
              <a:t>evaluar</a:t>
            </a:r>
            <a:endParaRPr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Control </a:t>
            </a:r>
            <a:r>
              <a:rPr dirty="0" err="1"/>
              <a:t>preciso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del </a:t>
            </a:r>
            <a:r>
              <a:rPr dirty="0" err="1"/>
              <a:t>agente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309360"/>
            <a:ext cx="10698480" cy="36576"/>
          </a:xfrm>
          <a:prstGeom prst="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9E1B31"/>
                </a:solidFill>
                <a:latin typeface="Calibri"/>
              </a:defRPr>
            </a:pPr>
            <a:r>
              <a:rPr dirty="0"/>
              <a:t>Casos de Uso</a:t>
            </a:r>
            <a:r>
              <a:rPr lang="es-ES" dirty="0"/>
              <a:t> – Emails automatizados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247622" y="1361949"/>
            <a:ext cx="1689794" cy="1474729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Busca días especiales “</a:t>
            </a:r>
            <a:r>
              <a:rPr lang="es-ES" dirty="0" err="1">
                <a:solidFill>
                  <a:schemeClr val="tx1"/>
                </a:solidFill>
              </a:rPr>
              <a:t>e.g</a:t>
            </a:r>
            <a:r>
              <a:rPr lang="es-ES" dirty="0">
                <a:solidFill>
                  <a:schemeClr val="tx1"/>
                </a:solidFill>
              </a:rPr>
              <a:t> día del jamón!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65924" y="1361950"/>
            <a:ext cx="1689793" cy="1474728"/>
          </a:xfrm>
          <a:prstGeom prst="round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7am </a:t>
            </a:r>
            <a:r>
              <a:rPr lang="es-ES" dirty="0">
                <a:sym typeface="Wingdings" panose="05000000000000000000" pitchFamily="2" charset="2"/>
              </a:rPr>
              <a:t> El agente se pone a trabajar</a:t>
            </a:r>
            <a:endParaRPr dirty="0"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0CD8B163-C144-BEB9-BC32-A00559729C1F}"/>
              </a:ext>
            </a:extLst>
          </p:cNvPr>
          <p:cNvSpPr/>
          <p:nvPr/>
        </p:nvSpPr>
        <p:spPr>
          <a:xfrm>
            <a:off x="4226324" y="1361949"/>
            <a:ext cx="1689794" cy="1474729"/>
          </a:xfrm>
          <a:prstGeom prst="round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Elige 2 opciones más divertidas e interesantes</a:t>
            </a:r>
            <a:endParaRPr dirty="0"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E7938221-83AF-D49C-3662-A22BFCBDFDE7}"/>
              </a:ext>
            </a:extLst>
          </p:cNvPr>
          <p:cNvSpPr/>
          <p:nvPr/>
        </p:nvSpPr>
        <p:spPr>
          <a:xfrm>
            <a:off x="6205026" y="1361950"/>
            <a:ext cx="1689794" cy="1474729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Escribe el email con humor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21407D0C-C95A-5E9C-701F-E9288E9EF06C}"/>
              </a:ext>
            </a:extLst>
          </p:cNvPr>
          <p:cNvSpPr/>
          <p:nvPr/>
        </p:nvSpPr>
        <p:spPr>
          <a:xfrm>
            <a:off x="8183728" y="1361948"/>
            <a:ext cx="1689794" cy="1474729"/>
          </a:xfrm>
          <a:prstGeom prst="roundRect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Revisa el contenido y formato del email</a:t>
            </a:r>
            <a:endParaRPr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CDFFB7AB-AE5A-19FA-1BA1-0063018324F1}"/>
              </a:ext>
            </a:extLst>
          </p:cNvPr>
          <p:cNvSpPr/>
          <p:nvPr/>
        </p:nvSpPr>
        <p:spPr>
          <a:xfrm>
            <a:off x="10162430" y="1361950"/>
            <a:ext cx="1689794" cy="1474729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Se manda de forma automática a todos los empleados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Right Arrow 10">
            <a:extLst>
              <a:ext uri="{FF2B5EF4-FFF2-40B4-BE49-F238E27FC236}">
                <a16:creationId xmlns:a16="http://schemas.microsoft.com/office/drawing/2014/main" id="{F7136573-B530-C6A6-A29E-77E1835E2D7F}"/>
              </a:ext>
            </a:extLst>
          </p:cNvPr>
          <p:cNvSpPr/>
          <p:nvPr/>
        </p:nvSpPr>
        <p:spPr>
          <a:xfrm>
            <a:off x="1991988" y="2099312"/>
            <a:ext cx="216365" cy="146304"/>
          </a:xfrm>
          <a:prstGeom prst="rightArrow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0">
            <a:extLst>
              <a:ext uri="{FF2B5EF4-FFF2-40B4-BE49-F238E27FC236}">
                <a16:creationId xmlns:a16="http://schemas.microsoft.com/office/drawing/2014/main" id="{AC3D4D21-F272-8FC4-0C7C-548A9207AFEE}"/>
              </a:ext>
            </a:extLst>
          </p:cNvPr>
          <p:cNvSpPr/>
          <p:nvPr/>
        </p:nvSpPr>
        <p:spPr>
          <a:xfrm>
            <a:off x="3972189" y="2102791"/>
            <a:ext cx="216365" cy="146304"/>
          </a:xfrm>
          <a:prstGeom prst="rightArrow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0">
            <a:extLst>
              <a:ext uri="{FF2B5EF4-FFF2-40B4-BE49-F238E27FC236}">
                <a16:creationId xmlns:a16="http://schemas.microsoft.com/office/drawing/2014/main" id="{3AEF2E70-820C-D04C-E218-7FDE0AF14C51}"/>
              </a:ext>
            </a:extLst>
          </p:cNvPr>
          <p:cNvSpPr/>
          <p:nvPr/>
        </p:nvSpPr>
        <p:spPr>
          <a:xfrm>
            <a:off x="5952389" y="2102791"/>
            <a:ext cx="216365" cy="146304"/>
          </a:xfrm>
          <a:prstGeom prst="rightArrow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0">
            <a:extLst>
              <a:ext uri="{FF2B5EF4-FFF2-40B4-BE49-F238E27FC236}">
                <a16:creationId xmlns:a16="http://schemas.microsoft.com/office/drawing/2014/main" id="{ADBEB6B4-5D20-BB00-896D-3F4A1AD8A471}"/>
              </a:ext>
            </a:extLst>
          </p:cNvPr>
          <p:cNvSpPr/>
          <p:nvPr/>
        </p:nvSpPr>
        <p:spPr>
          <a:xfrm>
            <a:off x="7931091" y="2102791"/>
            <a:ext cx="216365" cy="146304"/>
          </a:xfrm>
          <a:prstGeom prst="rightArrow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0">
            <a:extLst>
              <a:ext uri="{FF2B5EF4-FFF2-40B4-BE49-F238E27FC236}">
                <a16:creationId xmlns:a16="http://schemas.microsoft.com/office/drawing/2014/main" id="{0DC470FE-512D-C0AA-2A28-3C7984C2FD88}"/>
              </a:ext>
            </a:extLst>
          </p:cNvPr>
          <p:cNvSpPr/>
          <p:nvPr/>
        </p:nvSpPr>
        <p:spPr>
          <a:xfrm>
            <a:off x="9909793" y="2099312"/>
            <a:ext cx="216365" cy="146304"/>
          </a:xfrm>
          <a:prstGeom prst="rightArrow">
            <a:avLst/>
          </a:prstGeom>
          <a:solidFill>
            <a:srgbClr val="9E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4D83596D-1F04-C17A-577B-D71CB9332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235" y="3095094"/>
            <a:ext cx="5790002" cy="316327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6FC83AB-97C4-EE2A-0E5E-A77DD7AB1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651" y="3095094"/>
            <a:ext cx="3775798" cy="31632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43dcbeb-75d9-4d0b-88ed-da30b35a541e}" enabled="1" method="Privileged" siteId="{d1bbc304-0aa9-40a0-ad0f-d5f10a43e6a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739</Words>
  <Application>Microsoft Office PowerPoint</Application>
  <PresentationFormat>Panorámica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Alejandro Díaz Tamayo</cp:lastModifiedBy>
  <cp:revision>2</cp:revision>
  <dcterms:created xsi:type="dcterms:W3CDTF">2013-01-27T09:14:16Z</dcterms:created>
  <dcterms:modified xsi:type="dcterms:W3CDTF">2026-04-21T06:54:39Z</dcterms:modified>
  <cp:category/>
</cp:coreProperties>
</file>